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320040"/>
            <a:ext cx="2651760" cy="411480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SIH 2026  |  NTRO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DARKTRACE NEXUS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78892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0099BB"/>
                </a:solidFill>
                <a:latin typeface="Calibri"/>
              </a:defRPr>
            </a:pPr>
            <a:r>
              <a:t>AI-Powered Dark Web Threat Actor Correlation &amp; Attribution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503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899AA"/>
                </a:solidFill>
                <a:latin typeface="Calibri"/>
              </a:defRPr>
            </a:pPr>
            <a:r>
              <a:t>Defensive Cyber Threat Intelligence  |  Synthetic Data  |  Explainable Attribution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TEAM DARKTRACE NEXUS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60"/>
            <a:ext cx="1801368" cy="91440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4764024"/>
            <a:ext cx="1691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D. PARDHIV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5093208"/>
            <a:ext cx="1728216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0099BB"/>
                </a:solidFill>
                <a:latin typeface="Calibri"/>
              </a:defRPr>
            </a:pPr>
            <a:r>
              <a:t>Dark Web / OSINT 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0008" y="4709160"/>
            <a:ext cx="1801368" cy="91440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4764024"/>
            <a:ext cx="1691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B. SREE KRISHNA GOWTHAM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6584" y="5093208"/>
            <a:ext cx="1728216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0099BB"/>
                </a:solidFill>
                <a:latin typeface="Calibri"/>
              </a:defRPr>
            </a:pPr>
            <a:r>
              <a:t>Team Lead &amp; System Architect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2816" y="4709160"/>
            <a:ext cx="1801368" cy="91440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764024"/>
            <a:ext cx="1691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P. YUGANDHAR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5093208"/>
            <a:ext cx="1728216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0099BB"/>
                </a:solidFill>
                <a:latin typeface="Calibri"/>
              </a:defRPr>
            </a:pPr>
            <a:r>
              <a:t>AI/ML &amp; Behavioral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4709160"/>
            <a:ext cx="1801368" cy="91440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4764024"/>
            <a:ext cx="1691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C. SEETHA RAMADEVI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093208"/>
            <a:ext cx="1728216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0099BB"/>
                </a:solidFill>
                <a:latin typeface="Calibri"/>
              </a:defRPr>
            </a:pPr>
            <a:r>
              <a:t>Frontend, Backend &amp; Visualization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2" y="4709160"/>
            <a:ext cx="1801368" cy="91440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4764024"/>
            <a:ext cx="1691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KVS. ANMOL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5093208"/>
            <a:ext cx="1728216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0099BB"/>
                </a:solidFill>
                <a:latin typeface="Calibri"/>
              </a:defRPr>
            </a:pPr>
            <a:r>
              <a:t>Graph Analytics &amp; Data Engineering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4709160"/>
            <a:ext cx="1801368" cy="91440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76104" y="4764024"/>
            <a:ext cx="1691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A. SIRICHANDANA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6" y="5093208"/>
            <a:ext cx="1728216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0099BB"/>
                </a:solidFill>
                <a:latin typeface="Calibri"/>
              </a:defRPr>
            </a:pPr>
            <a:r>
              <a:t>Cyber Threat Intelligence &amp; Attribution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8899AA"/>
                </a:solidFill>
                <a:latin typeface="Calibri"/>
              </a:defRPr>
            </a:pPr>
            <a:r>
              <a:t>Problem Statement: SIH26151  |  Theme: Blockchain &amp; Cybersecurity  |  github.com/degalapardhiv/DarkTraceNexus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02  PROBLEM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8368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Threat actors deliberately fragment their digital identity across multiple signals, making traditional correlation extremely difficult.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06040" cy="7772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240280"/>
            <a:ext cx="109728" cy="10972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Multiple Aliases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99AA"/>
                </a:solidFill>
                <a:latin typeface="Calibri"/>
              </a:defRPr>
            </a:pPr>
            <a:r>
              <a:t>Same actor, different names across forums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606040" cy="7772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47288" y="2240280"/>
            <a:ext cx="109728" cy="10972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176272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Platform Identities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5059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99AA"/>
                </a:solidFill>
                <a:latin typeface="Calibri"/>
              </a:defRPr>
            </a:pPr>
            <a:r>
              <a:t>Separate accounts on dark web marketplaces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2606040" cy="7772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3154680"/>
            <a:ext cx="109728" cy="10972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90672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Cryptocurrency Wallets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6499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99AA"/>
                </a:solidFill>
                <a:latin typeface="Calibri"/>
              </a:defRPr>
            </a:pPr>
            <a:r>
              <a:t>Different BTC/ETH addresses per operation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017520"/>
            <a:ext cx="2606040" cy="7772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47288" y="3154680"/>
            <a:ext cx="109728" cy="10972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090672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PGP Identities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36499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99AA"/>
                </a:solidFill>
                <a:latin typeface="Calibri"/>
              </a:defRPr>
            </a:pPr>
            <a:r>
              <a:t>Multiple encryption keys for authentication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2606040" cy="7772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4069080"/>
            <a:ext cx="109728" cy="10972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05072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Infrastructure Shifts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7939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99AA"/>
                </a:solidFill>
                <a:latin typeface="Calibri"/>
              </a:defRPr>
            </a:pPr>
            <a:r>
              <a:t>Changing domains, IPs, hosting providers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931920"/>
            <a:ext cx="2606040" cy="7772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47288" y="4069080"/>
            <a:ext cx="109728" cy="10972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4005072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Writing Style Variation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27939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99AA"/>
                </a:solidFill>
                <a:latin typeface="Calibri"/>
              </a:defRPr>
            </a:pPr>
            <a:r>
              <a:t>Different linguistic patterns per persona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92040"/>
            <a:ext cx="5303520" cy="457200"/>
          </a:xfrm>
          <a:prstGeom prst="roundRect">
            <a:avLst/>
          </a:prstGeom>
          <a:solidFill>
            <a:srgbClr val="301515"/>
          </a:solidFill>
          <a:ln w="1270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4545"/>
                </a:solidFill>
              </a:defRPr>
            </a:pPr>
            <a:r>
              <a:t>Result: Fragmented intelligence, missed correlations, slow investigations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89320" y="2926080"/>
            <a:ext cx="411480" cy="45720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91440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DARKTRACE NEXUS 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32588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Multi-signal correlation engine that unifies fragmented intelligence into explainable attribution.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103120"/>
            <a:ext cx="4846320" cy="475488"/>
          </a:xfrm>
          <a:prstGeom prst="roundRect">
            <a:avLst/>
          </a:prstGeom>
          <a:solidFill>
            <a:srgbClr val="251515"/>
          </a:solidFill>
          <a:ln w="1270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899AA"/>
                </a:solidFill>
                <a:latin typeface="Calibri"/>
              </a:defRPr>
            </a:pPr>
            <a:r>
              <a:t>Fragmented Threat Intelligence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8933688" y="2578608"/>
            <a:ext cx="146304" cy="164592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0" y="2761488"/>
            <a:ext cx="4846320" cy="47548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Multi-Signal Correlation Engine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8933688" y="3236976"/>
            <a:ext cx="146304" cy="164592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0" y="3419856"/>
            <a:ext cx="4846320" cy="47548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Graph-Based Relationship Analysis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933688" y="3895344"/>
            <a:ext cx="146304" cy="164592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0" y="4078224"/>
            <a:ext cx="4846320" cy="47548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696"/>
                </a:solidFill>
                <a:latin typeface="Calibri"/>
              </a:defRPr>
            </a:pPr>
            <a:r>
              <a:t>Explainable Attribution Scoring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8933688" y="4553712"/>
            <a:ext cx="146304" cy="164592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83680" y="4736592"/>
            <a:ext cx="4846320" cy="475488"/>
          </a:xfrm>
          <a:prstGeom prst="roundRect">
            <a:avLst/>
          </a:prstGeom>
          <a:solidFill>
            <a:srgbClr val="0F2518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Analyst Investigation &amp; 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48640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Core Capabilities: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76072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OSINT Correlation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76072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Behavioral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576072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Stylometry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608076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Infrastructure Mapping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608076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Evidence Chain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608076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Explainable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556677"/>
                </a:solidFill>
                <a:latin typeface="Calibri"/>
              </a:defRPr>
            </a:pPr>
            <a:r>
              <a:t>Speaking Note: Threat actors fragment identities across aliases, wallets, PGP keys, and infrastructure. DarkTrace Nexus correlates these signals through AI analysis and graph intelligence to deliver explainable attribution for analysts.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03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8368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End-to-End Intelligence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40312" cy="4617720"/>
          </a:xfrm>
          <a:prstGeom prst="roundRect">
            <a:avLst/>
          </a:prstGeom>
          <a:solidFill>
            <a:srgbClr val="0D1324"/>
          </a:solidFill>
          <a:ln w="12700">
            <a:solidFill>
              <a:srgbClr val="16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DATA / INTELLIGENCE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2377440" cy="347472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Dark Web Forums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57400"/>
            <a:ext cx="2377440" cy="347472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Paste Sites &amp; Pastebin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68880"/>
            <a:ext cx="2377440" cy="347472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Marketplace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80360"/>
            <a:ext cx="2377440" cy="347472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PGP Key Servers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2377440" cy="347472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Blockchain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2377440" cy="347472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WHOIS / DNS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14800"/>
            <a:ext cx="2377440" cy="347472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OSINT Feeds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1737360"/>
            <a:ext cx="320040" cy="36576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1371600"/>
            <a:ext cx="2743200" cy="475488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Collection &amp; Normalization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590288" y="1847088"/>
            <a:ext cx="146304" cy="164592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2743200" cy="475488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Entity Extraction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590288" y="2505456"/>
            <a:ext cx="146304" cy="164592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91840" y="2688336"/>
            <a:ext cx="2743200" cy="47548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Correlation Engine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590288" y="3163824"/>
            <a:ext cx="146304" cy="356616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91840" y="3520440"/>
            <a:ext cx="2743200" cy="1828800"/>
          </a:xfrm>
          <a:prstGeom prst="roundRect">
            <a:avLst/>
          </a:prstGeom>
          <a:solidFill>
            <a:srgbClr val="0D1F35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56616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AI/ML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84048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Behavioral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11480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Stylometric Profiling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38912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Entity Similarity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66344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Temporal Correlation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93776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8-Factor Attribution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172200" y="3200400"/>
            <a:ext cx="320040" cy="36576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0" y="1371600"/>
            <a:ext cx="2560320" cy="2011680"/>
          </a:xfrm>
          <a:prstGeom prst="roundRect">
            <a:avLst/>
          </a:prstGeom>
          <a:solidFill>
            <a:srgbClr val="0D1F35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41732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GRAPH ANALYTICS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1737360"/>
            <a:ext cx="713232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B82F6"/>
                </a:solidFill>
              </a:defRPr>
            </a:pPr>
            <a:r>
              <a:t>Actor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0" y="1737360"/>
            <a:ext cx="713232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B82F6"/>
                </a:solidFill>
              </a:defRPr>
            </a:pPr>
            <a:r>
              <a:t>Alias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1737360"/>
            <a:ext cx="713232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B82F6"/>
                </a:solidFill>
              </a:defRPr>
            </a:pPr>
            <a:r>
              <a:t>PGP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240280"/>
            <a:ext cx="713232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B82F6"/>
                </a:solidFill>
              </a:defRPr>
            </a:pPr>
            <a:r>
              <a:t>Wallet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0" y="2240280"/>
            <a:ext cx="713232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B82F6"/>
                </a:solidFill>
              </a:defRPr>
            </a:pPr>
            <a:r>
              <a:t>Infrastructure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2240280"/>
            <a:ext cx="713232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B82F6"/>
                </a:solidFill>
              </a:defRPr>
            </a:pPr>
            <a: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69748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1E4080"/>
                </a:solidFill>
                <a:latin typeface="Calibri"/>
              </a:defRPr>
            </a:pPr>
            <a:r>
              <a:t>Actor ↔ Alias ↔ PGP ↔ Wallet ↔ Infra ↔ Evidence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7863840" y="3474720"/>
            <a:ext cx="182880" cy="274320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0" y="3840480"/>
            <a:ext cx="2560320" cy="457200"/>
          </a:xfrm>
          <a:prstGeom prst="roundRect">
            <a:avLst/>
          </a:prstGeom>
          <a:solidFill>
            <a:srgbClr val="0F2518"/>
          </a:solidFill>
          <a:ln w="254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696"/>
                </a:solidFill>
              </a:defRPr>
            </a:pPr>
            <a:r>
              <a:t>Explainable Attribution Engine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144000" y="402336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13716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1691640"/>
            <a:ext cx="2560320" cy="475488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1709928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D4FF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1938528"/>
            <a:ext cx="23774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Frontend Dashboard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2258568"/>
            <a:ext cx="2560320" cy="475488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2276856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2505456"/>
            <a:ext cx="23774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REST API Backend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0" y="2825496"/>
            <a:ext cx="2560320" cy="475488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2843784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E696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3072384"/>
            <a:ext cx="23774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Primary Database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3392424"/>
            <a:ext cx="2560320" cy="475488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3410712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Neo4j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3639312"/>
            <a:ext cx="23774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Graph Analytics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18320" y="3959352"/>
            <a:ext cx="2560320" cy="475488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397764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F9933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4206240"/>
            <a:ext cx="23774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AI/ML Analysis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18320" y="4526280"/>
            <a:ext cx="2560320" cy="475488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9760" y="4544568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99BB"/>
                </a:solidFill>
                <a:latin typeface="Calibri"/>
              </a:defRPr>
            </a:pPr>
            <a:r>
              <a:t>SSE / Realtime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4773168"/>
            <a:ext cx="23774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Live Dashboard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897880"/>
            <a:ext cx="11430000" cy="127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9893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26080" y="59893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59893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59893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Graph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59893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Attribution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59893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8899A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556677"/>
                </a:solidFill>
                <a:latin typeface="Calibri"/>
              </a:defRPr>
            </a:pPr>
            <a:r>
              <a:t>Speaking Note: Our architecture follows a pipeline from data collection through entity extraction, AI-powered correlation, graph analytics, and explainable attribution — all surfaced through a real-time Next.js dashboard backed by FastAPI and PostgreSQL.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04  INNOVATION &amp;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8368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Six Core Differentiators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14630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481328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44752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50" b="1">
                <a:solidFill>
                  <a:srgbClr val="FFFFFF"/>
                </a:solidFill>
                <a:latin typeface="Calibri"/>
              </a:defRPr>
            </a:pPr>
            <a:r>
              <a:t>Multi-Signal Actor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83664"/>
            <a:ext cx="3346704" cy="877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Combines aliases, PGP keys, cryptocurrency wallets, infrastructure, behavioral patterns, and stylometric analysis into unified actor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566160" cy="14630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15968" y="1481328"/>
            <a:ext cx="320040" cy="32004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444752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50" b="1">
                <a:solidFill>
                  <a:srgbClr val="FFFFFF"/>
                </a:solidFill>
                <a:latin typeface="Calibri"/>
              </a:defRPr>
            </a:pPr>
            <a:r>
              <a:t>Explainable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883664"/>
            <a:ext cx="3346704" cy="877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8-factor weighted scoring shows WHY actors are correlated — not just an AI score. Analysts see the reasoning behind every attribution.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371600"/>
            <a:ext cx="3566160" cy="14630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65008" y="1481328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444752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50" b="1">
                <a:solidFill>
                  <a:srgbClr val="FFFFFF"/>
                </a:solidFill>
                <a:latin typeface="Calibri"/>
              </a:defRPr>
            </a:pPr>
            <a:r>
              <a:t>Interactive Relationship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1883664"/>
            <a:ext cx="3346704" cy="877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ReactFlow-powered graph visualizes Actor → Alias → PGP → Wallet → Infrastructure → Evidence relationships with confidence thresholds.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3566160" cy="14630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081528"/>
            <a:ext cx="320040" cy="32004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A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44952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50" b="1">
                <a:solidFill>
                  <a:srgbClr val="FFFFFF"/>
                </a:solidFill>
                <a:latin typeface="Calibri"/>
              </a:defRPr>
            </a:pPr>
            <a:r>
              <a:t>Behavioral &amp; Stylometric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83864"/>
            <a:ext cx="3346704" cy="877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Identifies similarities across posting patterns, activity timing, vocabulary richness, sentence structure, and linguistic fingerprints.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2971800"/>
            <a:ext cx="3566160" cy="14630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5968" y="3081528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A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044952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50" b="1">
                <a:solidFill>
                  <a:srgbClr val="FFFFFF"/>
                </a:solidFill>
                <a:latin typeface="Calibri"/>
              </a:defRPr>
            </a:pPr>
            <a:r>
              <a:t>Evidence Chain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3483864"/>
            <a:ext cx="3346704" cy="877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SHA-256 evidence hashing, timestamped records, and linked intelligence entities create verifiable, tamper-evident investigation trails.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2971800"/>
            <a:ext cx="3566160" cy="146304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65008" y="3081528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E1A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044952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50" b="1">
                <a:solidFill>
                  <a:srgbClr val="FFFFFF"/>
                </a:solidFill>
                <a:latin typeface="Calibri"/>
              </a:defRPr>
            </a:pPr>
            <a:r>
              <a:t>Investigation Workspace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483864"/>
            <a:ext cx="3346704" cy="877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End-to-end workflow: Profile → Graph → Attribution → Evidence → Timeline → Report generation with JSON/CSV export.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EXPLAINABLE ATTRIBUTION CONCEPT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92040"/>
            <a:ext cx="1005840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4FF"/>
                </a:solidFill>
              </a:defRPr>
            </a:pPr>
            <a:r>
              <a:t>Identity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00200" y="4892040"/>
            <a:ext cx="1005840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Behavior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892040"/>
            <a:ext cx="1005840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E696"/>
                </a:solidFill>
              </a:defRPr>
            </a:pPr>
            <a:r>
              <a:t>Stylometry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4892040"/>
            <a:ext cx="1005840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9933"/>
                </a:solidFill>
              </a:defRPr>
            </a:pPr>
            <a:r>
              <a:t>Infrastructure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49240"/>
            <a:ext cx="1005840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</a:defRPr>
            </a:pPr>
            <a:r>
              <a:t>PGP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00200" y="5349240"/>
            <a:ext cx="1005840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99BB"/>
                </a:solidFill>
              </a:defRPr>
            </a:pPr>
            <a:r>
              <a:t>Wallet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5349240"/>
            <a:ext cx="1005840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88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899AA"/>
                </a:solidFill>
              </a:defRPr>
            </a:pPr>
            <a:r>
              <a:t>Temporal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5349240"/>
            <a:ext cx="1005840" cy="36576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CCCCC"/>
                </a:solidFill>
              </a:defRPr>
            </a:pPr>
            <a:r>
              <a:t>Source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2286000" y="5852160"/>
            <a:ext cx="182880" cy="228600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400" y="6126480"/>
            <a:ext cx="2743200" cy="365760"/>
          </a:xfrm>
          <a:prstGeom prst="roundRect">
            <a:avLst/>
          </a:prstGeom>
          <a:solidFill>
            <a:srgbClr val="0F2518"/>
          </a:solidFill>
          <a:ln w="254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696"/>
                </a:solidFill>
              </a:defRPr>
            </a:pPr>
            <a:r>
              <a:t>Weighted Correlation → Confidence Assessment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52628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PLATFORM CAPABILITIES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8920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19 API endpoints with full CRUD operations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8920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18 database tables with async SQLAlchemy 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21208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PostgreSQL 16 + Neo4j 5 dual persistence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21208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8-factor weighted attribution scoring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53212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Real-time SSE dashboard with heartbeat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53212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JWT authentication with Argon2 + RBAC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85216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Interactive ReactFlow relationship graph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85216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SHA-256 evidence integrity verification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61722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JSON/CSV export for all intelligence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61722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Docker multi-stage builds + cloud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05  FEASIBILITY, IMPACT &amp;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8368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Working Prototype — Not Just a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257800" cy="4526280"/>
          </a:xfrm>
          <a:prstGeom prst="roundRect">
            <a:avLst/>
          </a:prstGeom>
          <a:solidFill>
            <a:srgbClr val="0D1324"/>
          </a:solidFill>
          <a:ln w="12700">
            <a:solidFill>
              <a:srgbClr val="16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6840" y="1188720"/>
            <a:ext cx="2834640" cy="5303520"/>
          </a:xfrm>
          <a:prstGeom prst="roundRect">
            <a:avLst/>
          </a:prstGeom>
          <a:solidFill>
            <a:srgbClr val="0D1324"/>
          </a:solidFill>
          <a:ln w="12700">
            <a:solidFill>
              <a:srgbClr val="16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E696"/>
                </a:solidFill>
                <a:latin typeface="Calibri"/>
              </a:defRPr>
            </a:pPr>
            <a:r>
              <a:t>WORKING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554480" cy="1005840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Synthetic Threat Actors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12848" y="1691640"/>
            <a:ext cx="1554480" cy="1005840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182880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19456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Cross-Actor Correlations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77056" y="1691640"/>
            <a:ext cx="1554480" cy="1005840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216" y="182880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Calibri"/>
              </a:defRPr>
            </a:pPr>
            <a:r>
              <a:t>521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6" y="219456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Evidence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88920"/>
            <a:ext cx="1554480" cy="1005840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2608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9184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Timeline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12848" y="2788920"/>
            <a:ext cx="1554480" cy="1005840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292608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1,282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329184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Intelligence Posts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2788920"/>
            <a:ext cx="1554480" cy="1005840"/>
          </a:xfrm>
          <a:prstGeom prst="roundRect">
            <a:avLst/>
          </a:prstGeom>
          <a:solidFill>
            <a:srgbClr val="10152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14216" y="292608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4216" y="329184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VERIFIED WORKING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5196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Interactive relationship graph (ReactFlow)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25196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Explainable attribution with 8-factor 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Investigation workspace with step-by-step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57200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Report generation with JSON/CSV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Real-time SSE dashboard 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89204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Global cross-entity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1208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Timeline analysis with event filtering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21208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Evidence chain with SHA-256 verification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280160"/>
            <a:ext cx="2971800" cy="475488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3716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DEMO WORKFLOW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1737360"/>
            <a:ext cx="2560320" cy="38404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Dashboard Overview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7333488" y="2121408"/>
            <a:ext cx="146304" cy="128016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0" y="2267712"/>
            <a:ext cx="2560320" cy="38404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Threat Actor List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7333488" y="2651760"/>
            <a:ext cx="146304" cy="128016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26480" y="2798064"/>
            <a:ext cx="2560320" cy="38404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Actor Profile Detail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7333488" y="3182112"/>
            <a:ext cx="146304" cy="128016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26480" y="3328416"/>
            <a:ext cx="2560320" cy="38404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Relationship Graph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7333488" y="3712464"/>
            <a:ext cx="146304" cy="128016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26480" y="3858768"/>
            <a:ext cx="2560320" cy="38404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Attribution Analysis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7333488" y="4242816"/>
            <a:ext cx="146304" cy="128016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26480" y="4389120"/>
            <a:ext cx="2560320" cy="38404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Evidence Chain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7333488" y="4773168"/>
            <a:ext cx="146304" cy="128016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26480" y="4919472"/>
            <a:ext cx="2560320" cy="38404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99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Timeline View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7333488" y="5303520"/>
            <a:ext cx="146304" cy="128016"/>
          </a:xfrm>
          <a:prstGeom prst="downArrow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26480" y="5449824"/>
            <a:ext cx="2560320" cy="384048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Investigation 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13716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E696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54" name="Oval 53"/>
          <p:cNvSpPr/>
          <p:nvPr/>
        </p:nvSpPr>
        <p:spPr>
          <a:xfrm>
            <a:off x="9235440" y="1810512"/>
            <a:ext cx="91440" cy="9144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17373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Reduces fragmented CTI analysis</a:t>
            </a:r>
          </a:p>
        </p:txBody>
      </p:sp>
      <p:sp>
        <p:nvSpPr>
          <p:cNvPr id="56" name="Oval 55"/>
          <p:cNvSpPr/>
          <p:nvPr/>
        </p:nvSpPr>
        <p:spPr>
          <a:xfrm>
            <a:off x="9235440" y="2267712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20" y="21945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Discovers hidden actor relationships</a:t>
            </a:r>
          </a:p>
        </p:txBody>
      </p:sp>
      <p:sp>
        <p:nvSpPr>
          <p:cNvPr id="58" name="Oval 57"/>
          <p:cNvSpPr/>
          <p:nvPr/>
        </p:nvSpPr>
        <p:spPr>
          <a:xfrm>
            <a:off x="9235440" y="272491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26517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Provides evidence-backed correlation</a:t>
            </a:r>
          </a:p>
        </p:txBody>
      </p:sp>
      <p:sp>
        <p:nvSpPr>
          <p:cNvPr id="60" name="Oval 59"/>
          <p:cNvSpPr/>
          <p:nvPr/>
        </p:nvSpPr>
        <p:spPr>
          <a:xfrm>
            <a:off x="9235440" y="3182112"/>
            <a:ext cx="91440" cy="9144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18320" y="31089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Improves investigation efficiency</a:t>
            </a:r>
          </a:p>
        </p:txBody>
      </p:sp>
      <p:sp>
        <p:nvSpPr>
          <p:cNvPr id="62" name="Oval 61"/>
          <p:cNvSpPr/>
          <p:nvPr/>
        </p:nvSpPr>
        <p:spPr>
          <a:xfrm>
            <a:off x="9235440" y="363931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5661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Supports transparent attribution</a:t>
            </a:r>
          </a:p>
        </p:txBody>
      </p:sp>
      <p:sp>
        <p:nvSpPr>
          <p:cNvPr id="64" name="Oval 63"/>
          <p:cNvSpPr/>
          <p:nvPr/>
        </p:nvSpPr>
        <p:spPr>
          <a:xfrm>
            <a:off x="9235440" y="409651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320" y="40233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Scalable CTI/SOC foundation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44805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4800600"/>
            <a:ext cx="2743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Modular microservice architecture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5074920"/>
            <a:ext cx="2743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API-driven design (REST + SSE)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5349240"/>
            <a:ext cx="2743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Graph-based relationship model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5623560"/>
            <a:ext cx="2743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Managed database compatibility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5897880"/>
            <a:ext cx="2743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Cloud-deployment ready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6172200"/>
            <a:ext cx="2743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Docker containerization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06  TEAM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8368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Meet the Team Behind DarkTrace Nexus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132588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E1A"/>
                </a:solidFill>
              </a:defRPr>
            </a:pPr>
            <a:r>
              <a:t>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716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D. PARDHIV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4592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D4FF"/>
                </a:solidFill>
                <a:latin typeface="Calibri"/>
              </a:defRPr>
            </a:pPr>
            <a:r>
              <a:t>Dark Web / OSINT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280160"/>
            <a:ext cx="3566160" cy="132588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1417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E1A"/>
                </a:solidFill>
              </a:defRPr>
            </a:pPr>
            <a:r>
              <a:t>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3716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B. SREE KRISHNA GOWTHAM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4592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Team Lead &amp; System Architect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280160"/>
            <a:ext cx="3566160" cy="132588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92440" y="1417320"/>
            <a:ext cx="457200" cy="45720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E1A"/>
                </a:solidFill>
              </a:defRPr>
            </a:pPr>
            <a:r>
              <a:t>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3716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P. YUGANDHAR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64592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E696"/>
                </a:solidFill>
                <a:latin typeface="Calibri"/>
              </a:defRPr>
            </a:pPr>
            <a:r>
              <a:t>AI/ML &amp; Behavioral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3566160" cy="132588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E1A"/>
                </a:solidFill>
              </a:defRPr>
            </a:pPr>
            <a:r>
              <a:t>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346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C. SEETHA RAMADEVI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10896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F9933"/>
                </a:solidFill>
                <a:latin typeface="Calibri"/>
              </a:defRPr>
            </a:pPr>
            <a:r>
              <a:t>Frontend, Backend &amp; Visualization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2743200"/>
            <a:ext cx="3566160" cy="132588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43400" y="288036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E1A"/>
                </a:solidFill>
              </a:defRPr>
            </a:pPr>
            <a: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8346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KVS. ANMOL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10896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A78BFA"/>
                </a:solidFill>
                <a:latin typeface="Calibri"/>
              </a:defRPr>
            </a:pPr>
            <a:r>
              <a:t>Graph Analytics &amp; Data Engineering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2743200"/>
            <a:ext cx="3566160" cy="1325880"/>
          </a:xfrm>
          <a:prstGeom prst="roundRect">
            <a:avLst/>
          </a:prstGeom>
          <a:solidFill>
            <a:srgbClr val="10152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880360"/>
            <a:ext cx="457200" cy="457200"/>
          </a:xfrm>
          <a:prstGeom prst="ellipse">
            <a:avLst/>
          </a:prstGeom>
          <a:solidFill>
            <a:srgbClr val="009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E1A"/>
                </a:solidFill>
              </a:defRPr>
            </a:pPr>
            <a:r>
              <a:t>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8346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A. SIRICHANDANA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10896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99BB"/>
                </a:solidFill>
                <a:latin typeface="Calibri"/>
              </a:defRPr>
            </a:pPr>
            <a:r>
              <a:t>Cyber Threat Intelligence &amp; Attribution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80560"/>
            <a:ext cx="1371600" cy="127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1772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Larger intelligence datasets &amp; real-time 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3776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Advanced entity-resolution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5780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Improved multilingual stylometry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Automated CTI enrichment pipelines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6177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Advanced graph anomaly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9377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SIEM/SOC platform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2578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Threat intelligence platform connectors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5778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Scalable realtime intelligence pipelines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943600"/>
            <a:ext cx="10972800" cy="127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053328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github.com/degalapardhiv/DarkTraceNexus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5989320"/>
            <a:ext cx="6675120" cy="457200"/>
          </a:xfrm>
          <a:prstGeom prst="roundRect">
            <a:avLst/>
          </a:prstGeom>
          <a:solidFill>
            <a:srgbClr val="0D1F35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1">
                <a:solidFill>
                  <a:srgbClr val="00D4FF"/>
                </a:solidFill>
              </a:defRPr>
            </a:pPr>
            <a:r>
              <a:t>From fragmented identities to explainable intelligence.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50" b="0">
                <a:solidFill>
                  <a:srgbClr val="8899AA"/>
                </a:solidFill>
                <a:latin typeface="Calibri"/>
              </a:defRPr>
            </a:pPr>
            <a:r>
              <a:t>Defensive research only. Attribution reflects analytical correlation &amp; confidence — not definitive identification of real individuals. All data is synthetic.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